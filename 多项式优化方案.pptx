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8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9B377-8ED2-9DE4-4C4F-EFA0D77D7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478251-C663-0CB3-ECA0-AB2AF3DD7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587ACC-815E-E52C-CC4D-1947F3BF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EC26D8-684B-459E-F2AA-6F46349B0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883ACC-8F2E-A9A0-6D34-71957378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072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CC12C-8DA0-F11D-126D-E5D2DA0D3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095801-3B98-9438-6C3A-09E694CB7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CB4C20-4C64-F9CA-4492-4A38E6969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185D3-0D5B-C745-BEAF-477E43472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6CA353-C7DE-B5C9-0FED-B8C97A25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278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1607BF-422D-2F80-3E6A-CAC72F7E5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A23A60-BC91-3C43-6C29-888F63616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0F1353-853A-D158-8F59-1E99ECF8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D109B0-20EF-6C4B-64C8-9B516355E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37C314-C916-E5FC-5176-B1349F49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3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49AED-552F-04C2-96F0-9EEFEE912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DAED0B-CACD-53AC-46F6-5766F49C6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AFB1E0-D4FF-A205-A4F3-0D294FADE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231B17-2020-FBBC-2A2F-8827922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77133B-7C03-A23B-13D4-9F8207E8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1DFFD4-1608-93DD-60DB-3C4126A8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91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89574-DF69-DB6F-CABE-D1A3C896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C77B1-FC23-A958-54CC-1B2A670CD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BB534D-2EA0-E4BA-2418-2C86A0B75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D3A63-EBCF-4856-90A6-4ABDCCEBE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4C2516-03CF-05D2-8852-A273A334BA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303EBF-9B8A-0473-EF5A-DD2F441F4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3B920A-E93E-AFBB-7F98-6FF795A99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6A22FB-FEA0-9B04-EBE1-9458E1D67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39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AA3FF-26E4-CBD4-DB7C-D1DDC856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253CE-BF4A-981B-A9D4-7A8A1476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A44125-81E6-BBD3-6C76-12EA0828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712436-8E09-2077-7C38-7CD12332A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0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D0B753-4939-D991-B35B-FFAE5A8C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471A8A-B29D-BB52-3A09-2C022DA59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61D5AB-50B9-55E1-8B9C-666415892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725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D504E-49E4-28E7-3E8A-CF0777436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F2AD0E-8755-41EE-E008-EDCD2DF57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29F519-5DF6-35D8-F7C7-E5D499890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60EF0-EDE6-9838-AF6F-D28E6FFC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943FEF-A380-CFA0-AB22-AD26F0E4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F559AA-AE74-FF00-F42B-26203107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116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15010-A11B-AEBE-7EAA-E1026696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9762C9-EFD9-C73B-83F1-E6F493157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88399F-A11C-EB6A-ED42-6D11B62C5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7F6872-2291-A04F-4A8E-E847B645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17AFB9-2186-3791-D356-C1AE07F5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E5FA2B-CBCB-A4BA-EE9A-BAB3BCA1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124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B750E5-730F-5F1D-D4D5-1A17DDC7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5F70F8-5196-12C3-E0AD-70F5D2D02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9D83FA-B630-61D6-7A3A-4A85ADBC4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7B4982-A47C-BBDD-3735-46546ABA5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E37014-97BD-BCB7-36AA-769F104C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66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175FD0-F11E-A6C2-13DC-86256E0A7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949FD8-AEFA-23AA-39B8-106BC1723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CA7C7B-C50C-04BC-E017-5E39B08C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5DE932-CF34-C6B3-D777-4F64E490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1A752-366D-C484-F543-AFEBC566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82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3AF189-E6B7-4831-0082-B9BE329E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1B9A66-6886-8802-13BD-10A3D1264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4C60C5-E046-9DB9-F61F-02BF0F0A6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BE006-B50A-4A89-9AFF-C7A6E173D87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ABA4EC-309C-6D8B-C191-D7B1ACE1D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75113-757C-3B85-2F02-19C5B6B1A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7CEAA-AD63-416A-B76C-7991F5B19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853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602D-C77E-607D-43F3-9875196EB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对于原多项式的优化方案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DA4A5A-8E24-2A3A-58D8-3D46BB48A3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针对已有色卡（小样本）场景，选用</a:t>
            </a:r>
            <a:r>
              <a:rPr lang="zh-CN" altLang="zh-CN" dirty="0"/>
              <a:t>二阶 Root Polynomial</a:t>
            </a:r>
            <a:r>
              <a:rPr lang="zh-CN" altLang="en-US" dirty="0"/>
              <a:t>替换普通多项式（利于</a:t>
            </a:r>
            <a:r>
              <a:rPr lang="zh-CN" altLang="zh-CN" dirty="0"/>
              <a:t>曝光尺度变化更加稳定</a:t>
            </a:r>
            <a:r>
              <a:rPr lang="zh-CN" altLang="en-US" dirty="0"/>
              <a:t>），结合</a:t>
            </a:r>
            <a:r>
              <a:rPr lang="zh-CN" altLang="zh-CN" dirty="0"/>
              <a:t>Ridge</a:t>
            </a:r>
            <a:r>
              <a:rPr lang="zh-CN" altLang="en-US" dirty="0"/>
              <a:t>防止过拟合。</a:t>
            </a:r>
          </a:p>
        </p:txBody>
      </p:sp>
    </p:spTree>
    <p:extLst>
      <p:ext uri="{BB962C8B-B14F-4D97-AF65-F5344CB8AC3E}">
        <p14:creationId xmlns:p14="http://schemas.microsoft.com/office/powerpoint/2010/main" val="111936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748BD-757D-B178-4FE6-F04FE5EF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00" y="-155359"/>
            <a:ext cx="10515600" cy="1325563"/>
          </a:xfrm>
        </p:spPr>
        <p:txBody>
          <a:bodyPr/>
          <a:lstStyle/>
          <a:p>
            <a:r>
              <a:rPr lang="zh-CN" altLang="en-US" dirty="0"/>
              <a:t>原始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84A2800-99A0-856B-C514-05B19D78A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63" y="723395"/>
            <a:ext cx="5039591" cy="279977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FF562C1-2C3A-5798-A632-C797BE447553}"/>
              </a:ext>
            </a:extLst>
          </p:cNvPr>
          <p:cNvSpPr txBox="1"/>
          <p:nvPr/>
        </p:nvSpPr>
        <p:spPr>
          <a:xfrm>
            <a:off x="583578" y="6226525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--model linear_bias --out output_ccm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2025F51-9304-4CE6-22D7-235F907B4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26" y="3515268"/>
            <a:ext cx="4880263" cy="27112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AE9D353-820E-44DC-B26C-581E7D68F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745" y="723395"/>
            <a:ext cx="5039592" cy="279977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BDAB979-F549-5679-9BF8-56D9D8D19FCA}"/>
              </a:ext>
            </a:extLst>
          </p:cNvPr>
          <p:cNvSpPr txBox="1"/>
          <p:nvPr/>
        </p:nvSpPr>
        <p:spPr>
          <a:xfrm>
            <a:off x="6092538" y="262143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/>
              <a:t>--model poly2 --ridge-alpha 1e-6 --out output_poly2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896089E-BB31-C112-A968-CF96D6507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51" y="3736556"/>
            <a:ext cx="4880263" cy="271125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BC00A20-DFD4-1242-AEAF-627DF4D72AF9}"/>
              </a:ext>
            </a:extLst>
          </p:cNvPr>
          <p:cNvSpPr txBox="1"/>
          <p:nvPr/>
        </p:nvSpPr>
        <p:spPr>
          <a:xfrm>
            <a:off x="5877745" y="6226525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--model root_poly2 --ridge-alpha 1e-6 --out output_root_poly2</a:t>
            </a: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FCD820E-E8FC-952B-ABDB-46DBA9037A6E}"/>
              </a:ext>
            </a:extLst>
          </p:cNvPr>
          <p:cNvGrpSpPr/>
          <p:nvPr/>
        </p:nvGrpSpPr>
        <p:grpSpPr>
          <a:xfrm>
            <a:off x="1608857" y="2123281"/>
            <a:ext cx="6248400" cy="2799773"/>
            <a:chOff x="2220773" y="2248853"/>
            <a:chExt cx="6791609" cy="3132017"/>
          </a:xfrm>
        </p:grpSpPr>
        <p:pic>
          <p:nvPicPr>
            <p:cNvPr id="18" name="内容占位符 6">
              <a:extLst>
                <a:ext uri="{FF2B5EF4-FFF2-40B4-BE49-F238E27FC236}">
                  <a16:creationId xmlns:a16="http://schemas.microsoft.com/office/drawing/2014/main" id="{BE1C43E8-6407-F6D5-56C7-4F28496B8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0773" y="2248853"/>
              <a:ext cx="5637631" cy="3132017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8FA17B3-9ED9-7F94-822D-8AD4CCF7E92F}"/>
                </a:ext>
              </a:extLst>
            </p:cNvPr>
            <p:cNvSpPr txBox="1"/>
            <p:nvPr/>
          </p:nvSpPr>
          <p:spPr>
            <a:xfrm>
              <a:off x="2912920" y="2328063"/>
              <a:ext cx="60994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dirty="0"/>
                <a:t>--model root_poly2 --ridge-alpha 1e-4 </a:t>
              </a:r>
              <a:endParaRPr lang="zh-CN" altLang="en-US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A77AFB6-F81C-2588-1923-F570A2BD872D}"/>
              </a:ext>
            </a:extLst>
          </p:cNvPr>
          <p:cNvGrpSpPr/>
          <p:nvPr/>
        </p:nvGrpSpPr>
        <p:grpSpPr>
          <a:xfrm>
            <a:off x="6227542" y="2102494"/>
            <a:ext cx="6174814" cy="2972035"/>
            <a:chOff x="1645151" y="764520"/>
            <a:chExt cx="6174814" cy="2972035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001F772F-A675-74FF-8B61-BFFB5D866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45151" y="764520"/>
              <a:ext cx="5349664" cy="2972035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8E64773-378B-2EE0-C002-A61EA31A181C}"/>
                </a:ext>
              </a:extLst>
            </p:cNvPr>
            <p:cNvSpPr txBox="1"/>
            <p:nvPr/>
          </p:nvSpPr>
          <p:spPr>
            <a:xfrm>
              <a:off x="1720503" y="863898"/>
              <a:ext cx="60994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dirty="0"/>
                <a:t>--model root_poly2 --ridge-alpha 1e-4 --chart-sample-method trimmed_mean --out output_root_poly2_trim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40253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内容占位符 4">
            <a:extLst>
              <a:ext uri="{FF2B5EF4-FFF2-40B4-BE49-F238E27FC236}">
                <a16:creationId xmlns:a16="http://schemas.microsoft.com/office/drawing/2014/main" id="{1B352F65-94CE-F5D9-18BB-9DB5AA619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44399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6E7E82-4A9F-A6D2-9F33-CB4A36F6A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	</a:t>
            </a:r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637F1E5-E2CC-90AD-F609-589294550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6482567-C7AD-6748-3DF9-81A10110E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B68CCF4-A80F-127D-E34A-F8C608D63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0583420"/>
              </p:ext>
            </p:extLst>
          </p:nvPr>
        </p:nvGraphicFramePr>
        <p:xfrm>
          <a:off x="665022" y="423256"/>
          <a:ext cx="10515596" cy="3307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97736783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50639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51881473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49681141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15932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75436174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40049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zh-CN" dirty="0"/>
                        <a:t>方法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Mean ΔE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Median ΔE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Max ΔE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P95 ΔE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Std ΔE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现象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1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inear_bias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2.930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2.723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5.138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4.659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1.100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04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dirty="0"/>
                        <a:t>poly2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4.530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4.453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6.904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6.684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1.300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809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dirty="0"/>
                        <a:t>root_poly2 1e-6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b="1" dirty="0"/>
                        <a:t>2.597</a:t>
                      </a:r>
                      <a:endParaRPr lang="zh-CN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2.617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4.398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4.244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1.271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483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dirty="0"/>
                        <a:t>root_poly2 1e-4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3.009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3.167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4.850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4.820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1.321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41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dirty="0"/>
                        <a:t>root_poly2 1e-4 trimmed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3.105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3.199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4.968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4.762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dirty="0"/>
                        <a:t>1.245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472255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573157D0-4B08-6898-1A99-57532D8E0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402" y="1392381"/>
            <a:ext cx="1627216" cy="90400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7C0E83E-BB61-0D77-37AC-C40E6976FCCD}"/>
              </a:ext>
            </a:extLst>
          </p:cNvPr>
          <p:cNvSpPr txBox="1"/>
          <p:nvPr/>
        </p:nvSpPr>
        <p:spPr>
          <a:xfrm>
            <a:off x="665022" y="4077745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实拍色卡 RGB</a:t>
            </a:r>
          </a:p>
          <a:p>
            <a:r>
              <a:rPr lang="zh-CN" altLang="en-US" dirty="0"/>
              <a:t>→ sRGB 转 linear RGB</a:t>
            </a:r>
          </a:p>
          <a:p>
            <a:r>
              <a:rPr lang="zh-CN" altLang="en-US" dirty="0"/>
              <a:t>→ 构造 root polynomial 特征</a:t>
            </a:r>
          </a:p>
          <a:p>
            <a:r>
              <a:rPr lang="zh-CN" altLang="en-US" dirty="0"/>
              <a:t>→ Ridge 最小二乘拟合到标准色卡 RGB</a:t>
            </a:r>
          </a:p>
          <a:p>
            <a:r>
              <a:rPr lang="zh-CN" altLang="en-US" dirty="0"/>
              <a:t>→ 应用到整张图</a:t>
            </a:r>
          </a:p>
          <a:p>
            <a:r>
              <a:rPr lang="zh-CN" altLang="en-US" dirty="0"/>
              <a:t>→ 胶块/木板 ROI 转 Lab</a:t>
            </a:r>
          </a:p>
          <a:p>
            <a:r>
              <a:rPr lang="zh-CN" altLang="en-US" dirty="0"/>
              <a:t>→ 计算 ΔE2000</a:t>
            </a:r>
          </a:p>
        </p:txBody>
      </p:sp>
      <p:sp>
        <p:nvSpPr>
          <p:cNvPr id="12" name="箭头: 手杖形 11">
            <a:extLst>
              <a:ext uri="{FF2B5EF4-FFF2-40B4-BE49-F238E27FC236}">
                <a16:creationId xmlns:a16="http://schemas.microsoft.com/office/drawing/2014/main" id="{681529E1-E40A-F927-52E4-E015EBC1341D}"/>
              </a:ext>
            </a:extLst>
          </p:cNvPr>
          <p:cNvSpPr/>
          <p:nvPr/>
        </p:nvSpPr>
        <p:spPr>
          <a:xfrm rot="16200000" flipH="1">
            <a:off x="-1170978" y="3321897"/>
            <a:ext cx="3087962" cy="455060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20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305</Words>
  <Application>Microsoft Office PowerPoint</Application>
  <PresentationFormat>宽屏</PresentationFormat>
  <Paragraphs>53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对于原多项式的优化方案</vt:lpstr>
      <vt:lpstr>原始</vt:lpstr>
      <vt:lpstr> 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Morian Youko</dc:creator>
  <cp:lastModifiedBy>Morian Youko</cp:lastModifiedBy>
  <cp:revision>6</cp:revision>
  <dcterms:created xsi:type="dcterms:W3CDTF">2026-07-06T03:10:56Z</dcterms:created>
  <dcterms:modified xsi:type="dcterms:W3CDTF">2026-07-06T09:23:27Z</dcterms:modified>
</cp:coreProperties>
</file>